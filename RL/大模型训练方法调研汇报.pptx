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457200"/>
            <a:ext cx="1828800" cy="18288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7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大模型训练方法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与发展路径调研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320040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LLM Training Methods &amp; Development Paths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2025年4月</a:t>
            </a:r>
            <a:endParaRPr lang="en-US" sz="1200" dirty="0"/>
          </a:p>
        </p:txBody>
      </p:sp>
      <p:pic>
        <p:nvPicPr>
          <p:cNvPr id="11" name="Image 0" descr="/sessions/69dc5e680684a9524e06190f/work/icon_brain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097280" cy="1097280"/>
          </a:xfrm>
          <a:prstGeom prst="rect">
            <a:avLst/>
          </a:prstGeom>
        </p:spPr>
      </p:pic>
      <p:pic>
        <p:nvPicPr>
          <p:cNvPr id="12" name="Image 1" descr="/sessions/69dc5e680684a9524e06190f/work/icon_network_256x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0"/>
            <a:ext cx="731520" cy="731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A7BF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| Table of 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24712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247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大模型训练基本方法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344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/ SFT / RLHF / DPO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112471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BF7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764792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7647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训练技术演进路径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19842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LLaMA / GLM / DeepSeek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17647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33172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404872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40487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代表性模型对比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2624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海外模型 / 国内模型 / 架构对比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240487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044952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4495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训练策略差异分析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3264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/ 对齐 / 推理 / 成本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304495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361188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685032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6850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630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成功经验总结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39044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关键因素 / 对齐技术演进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36850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▶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25196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325112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3251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6304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未来趋势与展望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463040" y="4544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 / 2026-2030展望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32511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大模型训练基本方法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LLM Training Methods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8" name="Image 0" descr="/sessions/69dc5e680684a9524e06190f/work/icon_training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36576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预训练 Pre-training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384048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核心原理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大规模无标注语料（万亿Token级别）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自监督学习：Next Token Prediction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学习语言规律、世界知识和推理能力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目标函数：最大化似然 L(x) = -log P(x_i|x_&lt;i)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05840"/>
            <a:ext cx="42062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关键特点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计算成本最高（占总训练80%+）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数据质量与多样性至关重要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模型规模与数据量需协同扩展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926080"/>
            <a:ext cx="4206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1089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技术演进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GPT-1: 117M参数, BookCorpus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175B参数, 300B Tokens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LLaMA-3: 405B, 15T+ Tokens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Chinchilla Scaling Laws指导最优规模</a:t>
            </a:r>
            <a:endParaRPr lang="en-US" sz="1400" dirty="0"/>
          </a:p>
        </p:txBody>
      </p:sp>
      <p:pic>
        <p:nvPicPr>
          <p:cNvPr id="16" name="Image 0" descr="/sessions/69dc5e680684a9524e06190f/work/icon_database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监督微调 SFT (Supervised Fine-Tuning)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基本原理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使用高质量指令-回答对进行训练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将预训练模型适配为对话/任务模型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数据量：通常10K-100K条高质量样本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训练轮次：通常2-5个Epoch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0233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关键实践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数据质量 &gt; 数据数量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多样化任务覆盖（问答/摘要/翻译/推理）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系统提示词(System Prompt)设计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多轮对话数据构建策略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004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数据构建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人工标注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模型辅助标注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Self-Instruct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Evol-Instruct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01752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2004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训练策略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全参数微调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混合精度训练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学习率调度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01752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2004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评估方法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自动评估(MT-Bench)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胜率对比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任务基准测试</a:t>
            </a:r>
            <a:endParaRPr lang="en-US" sz="1400" dirty="0"/>
          </a:p>
        </p:txBody>
      </p:sp>
      <p:pic>
        <p:nvPicPr>
          <p:cNvPr id="22" name="Image 0" descr="/sessions/69dc5e680684a9524e06190f/work/icon_finetune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RLHF 人类反馈强化学习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1430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监督微调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使用人工标注的指令数据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对预训练模型进行SFT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建立基础对话能力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BF7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1430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奖励模型训练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收集人类偏好对比数据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训练Reward Model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学习人类价值判断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BF7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11430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PPO强化学习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1828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使用RM提供奖励信号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通过PPO算法优化策略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对齐人类偏好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49040"/>
            <a:ext cx="8229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代表应用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(OpenAI)  |  ChatGPT (GPT-3.5/4)  |  Claude (Anthropic)  |  Gemini (Google)  |  LLaMA-2/3 Chat  |  GLM-4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DPO 直接偏好优化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核心原理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将RLHF中的奖励模型训练和PPO优化合并为单阶段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直接使用偏好数据优化策略模型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目标函数：L_DPO = -E[log sigma(beta * (log pi(y_w|x)/pi_ref - log pi(y_l|x)/pi_ref))]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隐式奖励：r(x,y) = beta * log(pi(y|x)/pi_ref(y|x))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0233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无需训练独立的奖励模型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训练更稳定，超参数更少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计算成本显著降低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实现简单，易于复现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DPO vs RLHF 对比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7772400" cy="10515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维度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RLHF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DPO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训练阶段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三阶段（SFT+RM+PPO）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单阶段（直接优化）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奖励模型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需要独立训练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隐式学习，无需RM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训练稳定性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PPO超参敏感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更稳定，易调参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计算成本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高（需维护4个模型）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低（仅需2个模型）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新兴对齐方法对比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828800"/>
                <a:gridCol w="1463040"/>
                <a:gridCol w="128016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方法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全称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核心思想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优势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代表模型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发布时间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RLAIF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from AI Feedback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使用AI模型替代人类标注偏好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降低标注成本，可扩展性强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2/3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基于宪法原则自我批评和修正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减少人类干预，价值观可控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Relative Policy Opt.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组内相对奖励替代绝对奖励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无需价值函数，训练高效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RLVR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from Verifiable Rewards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使用可验证结果作为奖励信号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客观准确，无需偏好标注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o1/o3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Kahneman-Tversky Opt.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基于前景理论的非配对优化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无需配对数据，数据利用高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各类开源模型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 Preference Opt.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在SFT阶段同时进行偏好对齐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单阶段完成，效率极高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各类开源模型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54880"/>
            <a:ext cx="8229600" cy="27432"/>
          </a:xfrm>
          <a:prstGeom prst="rect">
            <a:avLst/>
          </a:prstGeom>
          <a:solidFill>
            <a:srgbClr val="4A7BF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主流训练流水线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sessions/69dc5e680684a9524e06190f/work/chart_pipeline_1800x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0233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完整训练流水线: 数据收集 -&gt; 预训练 -&gt; SFT -&gt; 对齐(RLHF/DPO) -&gt; 部署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每个阶段的数据质量、训练策略和评估方法都直接影响最终模型性能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训练技术演进路径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Technology Evolution Paths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8" name="Image 0" descr="/sessions/69dc5e680684a9524e06190f/work/icon_evolution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36576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GPT系列演进 OpenAI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2860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1097280"/>
                <a:gridCol w="1188720"/>
                <a:gridCol w="164592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发布时间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参数量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训练数据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关键技术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核心突破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BookCorpus 5GB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Decoder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验证预训练+微调范式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WebText 40GB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无监督多任务能力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300B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In-context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Few-shot强大涌现能力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175B+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+ SFT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ChatGPT对话革命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~1.8T(MoE)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 + 多模态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多模态推理，考试超越人类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原生多模态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实时语音视觉交互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o1/o3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RLVR + CoT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测试时计算扩展，深度推理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sessions/69dc5e680684a9524e06190f/work/chart_gpt_scaling_15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383280"/>
            <a:ext cx="64008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LLaMA系列演进 Meta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97280"/>
                <a:gridCol w="1188720"/>
                <a:gridCol w="201168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发布时间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参数量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训练数据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关键特点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影响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7B-65B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1.4T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开源权重，纯学术许可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引爆开源LLM浪潮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7B-70B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商用许可，GQA，更长上下文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开源生态基础模型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8B-70B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15T+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高质量数据，128K上下文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开源性能标杆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8B-405B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15T+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405B旗舰，128K上下文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超越GPT-4o开源模型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15T+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70B性能大幅提升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高效开源标杆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8B-400B+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MoE架构，原生多模态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开源多模态新标杆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490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749040"/>
            <a:ext cx="393192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931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开源策略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推动开源LLM生态快速发展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证明小模型+大数据的有效性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37490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3749040"/>
            <a:ext cx="40233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技术贡献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Chinchilla最优训练数据配比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GQA注意力机制标准化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GLM系列演进 智谱AI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56032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228600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发布时间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参数量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关键特点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核心能力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GLM-130B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双语预训练(Bilingual)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中英双语理解与生成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ChatGLM-6B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开源对话模型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消费级GPU可运行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ChatGLM2-6B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更长上下文(32K)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性能大幅提升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6B-130B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工具调用+代码执行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Agent能力增强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9B-130B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多模态+长上下文(128K)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综合能力对标GPT-4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GLM-4V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视觉理解增强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图文理解领先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GLM-Z1/4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深度推理+开源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对标o1推理能力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490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749040"/>
            <a:ext cx="39319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931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技术路线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自回归填空预训练目标(autoregressive blank infilling)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中英双语深度融合策略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37490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3749040"/>
            <a:ext cx="40233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生态布局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开源+API双轮驱动，企业级解决方案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MaaS平台赋能行业应用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DeepSeek系列演进 深度求索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发布时间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参数量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激活参数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关键创新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MoE架构，高效推理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DeepSeek-Coder-V2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代码能力突破，128K上下文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通用+代码能力融合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Latent Attention, FP8训练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GRPO纯RL推理，零SFT数据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DeepSeek-R1-0528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多模态MoE，长链推理增强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74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474720"/>
            <a:ext cx="26517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MoE架构创新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细粒度专家分配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Latent Attention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无辅助损失的负载均衡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7560" y="3474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347472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训练效率突破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FP8混合精度训练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降低训练成本至1/10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14.8T Token单次预训练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0" y="3474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347472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GRPO推理对齐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无需SFT数据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纯RL激发推理能力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Relative Policy Optimization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代表性模型对比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Model Comparison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8" name="Image 0" descr="/sessions/69dc5e680684a9524e06190f/work/icon_compare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36576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海外主流模型对比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维度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GPT-4o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Claude 3.5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Gemini 2.0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LLaMA-3.1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Mistral Large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~1.8T(MoE)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上下文长度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1M-2M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文本/图像/语音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文本/图像/视频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对齐方法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RLAIF/CAI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部分(Gemma)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强(o1增强)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注: 以上信息基于各厂商公开资料整理，部分参数量未公开。各模型持续迭代更新中。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国内主流模型对比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维度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GLM-4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Qwen-2.5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DeepSeek-V3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文心一言4.0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通义千问-Max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智谱AI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深度求索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百度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72B(MoE)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671B(MoE)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上下文长度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文本/图像/视频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文本/图像/音频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文本/图像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对齐方法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RLHF/DPO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DPO/RLHF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RLHF/DPO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优秀(GLM-Z1)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优秀(QwQ)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优秀(R1)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良好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优秀(QwQ)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国内模型在中文理解、文化适配方面具有天然优势，开源生态快速追赶国际水平。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架构技术对比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64592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技术维度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GPT-4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LLaMA-3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DeepSeek-V3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GLM-4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Qwen-2.5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注意力机制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GQA/MHA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Latent Attention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归一化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Pre-Norm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DeepNorm/RMSNorm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激活函数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GeGLU/SwiGLU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位置编码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RoPE+2D混合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RoPE(Yarn)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MoE策略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密集/MoE混合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细粒度MoE(256专家)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MoE(A2.5)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BPE(tiktoken)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BPE(100K词表)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BPE(150K词表)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BPE(151K词表)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旋转维度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未公开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YaRN扩展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训练精度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FP16/BF16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FP8混合精度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BF16/FP8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63440"/>
            <a:ext cx="8229600" cy="27432"/>
          </a:xfrm>
          <a:prstGeom prst="rect">
            <a:avLst/>
          </a:prstGeom>
          <a:solidFill>
            <a:srgbClr val="4A7BF7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综合能力雷达图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/sessions/69dc5e680684a9524e06190f/work/chart_radar_1200x1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14400"/>
            <a:ext cx="45720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97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评估维度: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语言理解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46304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逻辑推理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78308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10312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数学能力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42316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长文本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指令遵循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370332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训练策略差异分析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Difference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8" name="Image 0" descr="/sessions/69dc5e680684a9524e06190f/work/icon_strategy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36576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数据类型差异: 纯文本 vs 多模态融合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纯文本训练路径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Web文本、书籍、论文、代码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预训练: 纯文本Next Token Prediction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优势: 训练简单，数据获取容易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局限: 缺乏视觉/听觉理解能力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GPT-3, LLaMA-1/2, BLOOM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演进方向: 增加代码和数学数据比例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数据清洗: 去重、质量过滤、毒性检测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05840"/>
            <a:ext cx="40233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多模态融合路径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图文对、视频、音频数据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架构: 独立编码器+跨模态对齐层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优势: 全面的感知和理解能力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挑战: 数据配对质量、对齐效率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GPT-4o, Gemini, Claude 3.5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融合策略: 早期融合 vs 晚期融合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趋势: 原生多模态统一架构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7BF7"/>
                </a:solidFill>
              </a:rPr>
              <a:t>◄►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对齐方法差异对比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188720"/>
                <a:gridCol w="1005840"/>
                <a:gridCol w="100584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模型/厂商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主要对齐方法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辅助方法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人类参与度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训练复杂度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效果评估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(GPT-4)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(PPO)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MT-Bench领先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RLAIF + CAI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Teaming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安全性突出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(Gemini)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+ SFT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多阶段对齐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多模态领先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(LLaMA)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开源标杆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纯RL无SFT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推理能力突出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智谱AI (GLM)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+ 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多阶段混合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中文能力优秀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 (Qwen)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+ RLHF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综合能力强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趋势: 从RLHF向DPO/GRPO等更高效方法演进，减少人类标注依赖，降低训练成本。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推理增强策略 Test-Time Compute Scaling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Chain-of-Thought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引导模型逐步推理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将复杂问题分解为子问题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显著提升数学和逻辑推理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463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多次采样取多数投票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提高推理结果可靠性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降低随机错误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Tree-of-Thought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463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搜索式推理探索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多路径并行评估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回溯与剪枝策略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 Reward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逐步评分而非结果评分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更精确的推理过程监督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o1核心策略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320040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+ RL (GRPO)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DeepSeek-R1的创新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结合搜索与强化学习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无需过程标注数据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20040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Inference Scaling Law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测试时计算量与性能正相关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更多推理时间 = 更好结果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新的Scaling方向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训练成本对比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7" name="Image 0" descr="/sessions/69dc5e680684a9524e06190f/work/chart_cost_15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关键发现: DeepSeek-V3训练成本仅约$5.5M，远低于GPT-4估计的$100M+，MoE+FP8训练是降本关键。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成功经验总结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Success Factors &amp; Lessons Learned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8" name="Image 0" descr="/sessions/69dc5e680684a9524e06190f/work/icon_success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36576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关键成功因素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数据质量为王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554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高质量数据比模型规模更重要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数据清洗和去重是基础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Laws指导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1554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遵循Chinchilla最优配比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参数量与数据量协同扩展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高效架构设计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554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MoE降低推理成本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GQA/RMSNorm提升效率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7180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1089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对齐方法迭代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520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从RLHF到DPO/GRPO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持续降低成本提升效果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9718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97180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0" y="31089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开源生态建设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3520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开源推动快速迭代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社区反馈加速改进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9718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97180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5080" y="31089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推理能力突破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3520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测试时计算扩展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CoT+RL激发深度推理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对齐技术演进 Alignment Evolution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pic>
        <p:nvPicPr>
          <p:cNvPr id="7" name="Image 0" descr="/sessions/69dc5e680684a9524e06190f/work/chart_alignment_timeline_165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演进趋势: RLHF -&gt; CAI/RLAIF -&gt; DPO/KTO -&gt; GRPO/RLVR，逐步减少人类标注依赖，提升训练效率。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未来趋势与展望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 &amp; Outlook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pic>
        <p:nvPicPr>
          <p:cNvPr id="8" name="Image 0" descr="/sessions/69dc5e680684a9524e06190f/work/icon_future_256x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74320"/>
            <a:ext cx="1097280" cy="10972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0" y="36576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未来技术趋势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pic>
        <p:nvPicPr>
          <p:cNvPr id="7" name="Image 0" descr="/sessions/69dc5e680684a9524e06190f/work/chart_trends_1200x1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914400"/>
            <a:ext cx="36576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0972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原生多模态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长上下文(1M+)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194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Agent自主决策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7432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端侧部署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29184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推理能力增强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8404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数据合成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2026-2030 发展展望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143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短期 (2026-2027)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原生多模态成为标配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100M+上下文窗口普及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端侧大模型(1-3B)成熟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Agent框架标准化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推理成本降至1/100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数据合成技术突破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1143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中期 (2028-2029)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通用AI(AGI)雏形显现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多模态统一架构统一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自主科学研究Agent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个性化模型定制普及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模型安全与对齐成熟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新型训练范式涌现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1143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长期 (2030+)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AGI可能实现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全模态感知与交互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模型自我进化能力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人机协作新范式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AI治理框架完善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可持续训练方案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63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BF7"/>
                </a:solidFill>
              </a:rPr>
              <a:t>▶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731520"/>
            <a:ext cx="1828800" cy="18288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960120"/>
            <a:ext cx="1828800" cy="274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大模型训练已形成"预训练-SFT-对齐"的标准化三阶段范式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对齐技术从RLHF向DPO/GRPO等高效方法快速演进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65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MoE架构+FP8训练大幅降低训练和推理成本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49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测试时计算扩展(Test-time Compute)成为新的Scaling方向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33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开源模型快速追赶闭源，生态竞争日趋激烈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00400"/>
            <a:ext cx="7315200" cy="1828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| Questions &amp; Discussion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A7BF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大模型训练方法与发展路径调研</dc:title>
  <dc:subject>PptxGenJS Presentation</dc:subject>
  <dc:creator>AI Research Team</dc:creator>
  <cp:lastModifiedBy>AI Research Team</cp:lastModifiedBy>
  <cp:revision>1</cp:revision>
  <dcterms:created xsi:type="dcterms:W3CDTF">2026-04-13T03:22:42Z</dcterms:created>
  <dcterms:modified xsi:type="dcterms:W3CDTF">2026-04-13T03:22:42Z</dcterms:modified>
</cp:coreProperties>
</file>