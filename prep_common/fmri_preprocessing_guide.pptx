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从扫描到 fMRIPrep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 预处理全流程新手指南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→ dcm2niix → BIDS → fMRIPrep → 质量检查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面向第一次接触 fMRI 预处理、BIDS 和 fMRIPrep 的同学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 | 基于项目实战经验整理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 |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我们到底在做什么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预处理的目标与核心链路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扫描结束后的第一步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13075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数据收集与参数记录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整理原始数据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1947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解压与目录组织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转 NIfTI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947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dcm2niix 工具使用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 BIDS 数据集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5877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文件命名、目录结构与元数据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3774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 JSON 元数据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25877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关键字段详解与常见坑点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验证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3227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bids-validator 使用与报错排查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0175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准备运行环境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3227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Docker、FreeSurfer、TemplateFlow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 fMRIPrep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05840" y="38679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命令参数详解与并行策略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6576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2064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fMRIPrep 内部原理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20640" y="38679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结构像与功能像处理流程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结果检查与输出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05840" y="4507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报告、confounds 与常见误区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42976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2064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工具脚本与参考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120640" y="4507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项目脚本工具与官方资料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我们到底在做什么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理解预处理的目标与核心链路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我们到底在做什么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理解预处理的目标与核心链路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 预处理的目标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8288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61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结构规范统一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统一文件格式（NIfTI）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统一目录结构（BIDS）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统一命名规范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515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612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元数据完整可追溯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采集参数记录在 JSON 中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任务信息与行为数据对齐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版本控制与可重复性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84048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272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误差校正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头动校正（Motion Correction）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切片时间校正（Slice Timing）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几何畸变校正（SDC）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空间标准化到模板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017520"/>
            <a:ext cx="411480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3017520"/>
            <a:ext cx="54864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1272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为下游分析准备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42900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一阶 GLM 分析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功能连接分析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MVPA / RSA 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核心链路：从扫描到分析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914400" cy="822960"/>
          </a:xfrm>
          <a:prstGeom prst="rect">
            <a:avLst>
              <a:gd name="adj" fmla="val 8889"/>
            </a:avLst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扫描结束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/ zip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55448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188720"/>
            <a:ext cx="914400" cy="822960"/>
          </a:xfrm>
          <a:prstGeom prst="rect">
            <a:avLst>
              <a:gd name="adj" fmla="val 8889"/>
            </a:avLst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整理数据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解压、编号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31720" y="155448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1188720"/>
            <a:ext cx="914400" cy="822960"/>
          </a:xfrm>
          <a:prstGeom prst="rect">
            <a:avLst>
              <a:gd name="adj" fmla="val 8889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dcm2niix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DICOM→NIfTI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83280" y="155448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Shape 16"/>
          <p:cNvSpPr/>
          <p:nvPr/>
        </p:nvSpPr>
        <p:spPr>
          <a:xfrm>
            <a:off x="3520440" y="1188720"/>
            <a:ext cx="914400" cy="822960"/>
          </a:xfrm>
          <a:prstGeom prst="rect">
            <a:avLst>
              <a:gd name="adj" fmla="val 8889"/>
            </a:avLst>
          </a:prstGeom>
          <a:solidFill>
            <a:srgbClr val="1E40AF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整理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命名+归档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34840" y="155448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1188720"/>
            <a:ext cx="914400" cy="822960"/>
          </a:xfrm>
          <a:prstGeom prst="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补元数据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字段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155448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5623560" y="1188720"/>
            <a:ext cx="914400" cy="822960"/>
          </a:xfrm>
          <a:prstGeom prst="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bids-validator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37960" y="155448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1188720"/>
            <a:ext cx="914400" cy="822960"/>
          </a:xfrm>
          <a:prstGeom prst="rect">
            <a:avLst>
              <a:gd name="adj" fmla="val 8889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fMRIPrep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预处理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589520" y="1554480"/>
            <a:ext cx="13716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Shape 32"/>
          <p:cNvSpPr/>
          <p:nvPr/>
        </p:nvSpPr>
        <p:spPr>
          <a:xfrm>
            <a:off x="7726680" y="1188720"/>
            <a:ext cx="914400" cy="822960"/>
          </a:xfrm>
          <a:prstGeom prst="rect">
            <a:avLst>
              <a:gd name="adj" fmla="val 8889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772668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结果检查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2668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confounds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核心原则：fMRIPrep 需要「合格的 BIDS 数据集」作为输入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200400"/>
            <a:ext cx="384048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291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第一部分：数据准备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" y="3657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导出原始 DICOM / zip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整理被试和序列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dcm2niix 转 NIfTI + JSON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0" y="3200400"/>
            <a:ext cx="411480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第二部分：预处理执行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54880" y="3657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BIDS 规范改名归档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 JSON 元数据 + 验证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 fMRIPrep + 检查结果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扫描结束后的第一步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数据收集与参数记录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扫描结束后的第一步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数据收集与参数记录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扫描结束后必须拿到的数据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20116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61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原始数据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2044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 DICOM 或压缩 zip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被试清单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扫描序列记录表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行为任务日志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重要扫描参数记录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5156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612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关键扫描参数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(RepetitionTime)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(EchoTime)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FlipAngle / 多带因子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切片数 / 切片顺序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相位编码方向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是否有 fieldmap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645920"/>
          </a:xfrm>
          <a:prstGeom prst="rect">
            <a:avLst>
              <a:gd name="adj" fmla="val 3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73552"/>
            <a:ext cx="795528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重要坑点：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不要只拿 .nii，一定尽量保留最原始的 DICOM 或压缩包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不要只记「这是任务 run1」，要记清楚扫描机上的真实序列名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行为日志和影像文件名一定要能对上 run，否则 events.tsv 容易错位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整理原始数据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解压与目录组织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整理原始数据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解压与目录组织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整理原始数据：目录结构与检查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657600" cy="2743200"/>
          </a:xfrm>
          <a:prstGeom prst="rect">
            <a:avLst>
              <a:gd name="adj" fmla="val 266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RAW/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20260401_sub001.zip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20260401_sub002.zip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Dicom/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001/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002/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Nifti/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051560"/>
            <a:ext cx="429768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051560"/>
            <a:ext cx="54864" cy="12801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1612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整理步骤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4630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 RAW / Dicom / Nifti 目录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解压 RAW 中的 zip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 DICOM 文件夹并重命名为 001, 002...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对每个被试做 DICOM 转换和 BIDS 归档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468880"/>
            <a:ext cx="429768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468880"/>
            <a:ext cx="54864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5786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检查清单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88036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每个被试是否都有 T1w 结构像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每个被试是否有预期数量的功能 run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有无多余序列（localizer, Survey 等）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有无缺失/重复 run 或扫描中断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1005840"/>
          </a:xfrm>
          <a:prstGeom prst="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54864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59352"/>
            <a:ext cx="79552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注意：不同扫描中心导出的 zip 结构不一样，别假设解压后一定是「某目录/DICOM/」。按时间排序自动编号时，必须确认 zip 顺序确实和被试顺序一致。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DICOM 转 NIfTI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dcm2niix 工具使用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DICOM 转 NIfTI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dcm2niix 工具使用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dcm2niix：DICOM 到 NIfTI 的转换工具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188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61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dcm2niix 的职责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DICOM 转成 NIfTI (.nii.gz)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DICOM 提取元数据写入 .json sidecar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1188720"/>
          </a:xfrm>
          <a:prstGeom prst="rect">
            <a:avLst>
              <a:gd name="adj" fmla="val 6154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典型命令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dcm2niix -z 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%p_%t_%s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&lt;输出目录&gt;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&lt;DICOM目录&gt;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含义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建议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-z 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输出压缩 .nii.gz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推荐开启，省空间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-f %p_%t_%s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文件名：协议+时间+序列号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保守命名，保留信息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输出目录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每被试单独目录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转换产物：series_name.nii.gz（图像）+ series_name.json（元数据）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206240"/>
            <a:ext cx="8229600" cy="731520"/>
          </a:xfrm>
          <a:prstGeom prst="rect">
            <a:avLst>
              <a:gd name="adj" fmla="val 75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4206240"/>
            <a:ext cx="54864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279392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别只拷贝 .nii.gz，漏掉 .json！dcm2niix 自动提取的元数据不一定完整，后面仍要人工核对。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构建 BIDS 数据集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文件命名、目录结构与元数据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构建 BIDS 数据集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文件命名、目录结构与元数据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最小可用 BIDS 目录结构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4114800" cy="3749040"/>
          </a:xfrm>
          <a:prstGeom prst="rect">
            <a:avLst>
              <a:gd name="adj" fmla="val 1951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BIDS_ROOT/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dataset_description.json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participants.tsv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participants.json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sub-001/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anat/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├─ sub-001_T1w.nii.gz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└─ sub-001_T1w.json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func/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 sub-001_task-viewing_run-1_bold.nii.gz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 sub-001_task-viewing_run-1_bold.json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 sub-001_task-viewing_run-1_events.tsv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 sub-001_task-viewing_run-2_bold.nii.gz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 sub-001_task-viewing_run-2_bold.json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 sub-001_task-viewing_run-2_events.tsv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code/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participants.txt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bids_filters.json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84048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54864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61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必要文件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dataset_description.json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bold.nii.gz 必须有对应 bold.json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功能文件名必须包含 task-xxx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384048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28600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3957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推荐文件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6974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participants.tsv / participants.json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events.tsv（任务态必须）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/ CHANGES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3520440"/>
            <a:ext cx="384048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5204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6301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命名规则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9319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sub-094_task-viewing_run-1_bold.nii.gz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静息态：sub-094_task-rest_run-1_bold.nii.gz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+ run 是核心实体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关键配置文件详解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dataset_description.json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"Your Study Name",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"BIDSVersion": "1.10.1"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411480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participants.tsv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participant_id	age	sex	group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sub-001	22	F	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sub-002	24	M	experiment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84048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events.tsv（任务态必需）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onset	duration	trial_type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	2.0	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4.5	2.0	picture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	2.0	rest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606040"/>
            <a:ext cx="4114800" cy="1371600"/>
          </a:xfrm>
          <a:prstGeom prst="rect">
            <a:avLst>
              <a:gd name="adj" fmla="val 5333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bids_filters.json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"t1w": { "datatype": "anat",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"suffix": "T1w"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"bold": { "datatype": "func",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"suffix": "bold"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822960"/>
          </a:xfrm>
          <a:prstGeom prst="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87952"/>
            <a:ext cx="79552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events.tsv 的 onset=0 指的是「第一个保留下来的 volume」，不是扫描机刚开始的时间。如果删掉了 dummy scans，events.tsv 的起点也要对应调整。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补齐 JSON 元数据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关键字段详解与常见坑点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补齐 JSON 元数据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关键字段详解与常见坑点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元数据：新手必须关注的字段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作用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何时必须核对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TaskName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任务名称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所有任务态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RepetitionTime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TR（时间采样间隔）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所有 BOLD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SliceTiming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切片采样时间点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需做 slice timing 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PhaseEncodingDirection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相位编码方向 (i/j/k)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畸变校正时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EffectiveEchoSpacing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有效回波间隔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场图/畸变校正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TotalReadoutTime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总读出时间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场图/畸变校正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B0FieldIdentifier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场图与功能像关联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有 fieldmap 时推荐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37560"/>
            <a:ext cx="8229600" cy="640080"/>
          </a:xfrm>
          <a:prstGeom prst="rect">
            <a:avLst>
              <a:gd name="adj" fmla="val 857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33756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410712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EstimatedEffectiveEchoSpacing → EffectiveEchoSpacing：有些转换结果是 Estimated... 前缀，后续工具更期待无前缀版本。可用 jq 批量重命名。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114800"/>
            <a:ext cx="8229600" cy="822960"/>
          </a:xfrm>
          <a:prstGeom prst="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187952"/>
            <a:ext cx="79552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不要把一名被试的 JSON 改对后机械复制到所有被试！SliceTiming 错了比没有还危险，PhaseEncodingDirection 错了会直接导致畸变校正方向反了。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高频大坑：PhaseEncodingDirection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61288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vs BIDS 的方向表示不同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9095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里写的是 AP / PA / LR / RL 等物理方向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JSON 里写的是 i / i- / j / j- / k / k- 等 NIfTI 轴方向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不能凭经验把 AP 直接写成 j，必须结合 NIfTI 方向、厂家说明、dcm2niix 输出一起核对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84048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54864" cy="11887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871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SliceTiming 注意事项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是每层切片在一个 TR 内的采样时间点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不是简单的切片顺序编号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多带采集时通常不是简单升序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377440"/>
            <a:ext cx="411480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3774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4871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字段重命名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7889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EstimatedEffectiveEchoSpacing → EffectiveEchoSpacing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EstimatedTotalReadoutTime → TotalReadoutTime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先确认数值本身没问题，再改 key 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188720"/>
          </a:xfrm>
          <a:prstGeom prst="rect">
            <a:avLst>
              <a:gd name="adj" fmla="val 461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49040"/>
            <a:ext cx="54864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22192"/>
            <a:ext cx="79552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实用技巧：项目脚本中提供了 jq 批量修改脚本，可以一键为所有被试的 bold.json 补齐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SliceTiming、PhaseEncodingDirection、RepetitionTime 三个关键字段。脚本会先自动备份（.bak），再执行修改。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| BIDS 验证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bids-validator 使用与报错排查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| BIDS 验证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bids-validator 使用与报错排查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bids-validator：运行前必须验证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bids-validator /path/to/BIDS_ROOT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1148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51560"/>
            <a:ext cx="54864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612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结果解读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error：先修，再跑 fMRIPrep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warning：不一定致命，但要逐条看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能跑起来 ≠ 数据合规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常见报错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解决方法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缺 dataset_description.json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创建该文件，填入 Name 和 BIDSVersion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功能文件名没有 task-xxx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重命名添加 task 实体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有 bold.nii.gz 无 bold.json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确保 .json sidecar 存在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events.tsv 文件名与 run 对不上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检查文件名中的 task/run 标签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场图文件结构不合规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参考 BIDS 规范检查 IntendedFor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749040"/>
            <a:ext cx="8229600" cy="640080"/>
          </a:xfrm>
          <a:prstGeom prst="rect">
            <a:avLst>
              <a:gd name="adj" fmla="val 857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3749040"/>
            <a:ext cx="54864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822192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--skip-bids-validation 只适合已单独跑过 validator 的场景。第一次整理数据不建议跳过 BIDS 检查。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480560"/>
            <a:ext cx="8229600" cy="502920"/>
          </a:xfrm>
          <a:prstGeom prst="rect">
            <a:avLst>
              <a:gd name="adj" fmla="val 1090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448056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553712"/>
            <a:ext cx="795528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项目工具：validate_bids_output.py 可校验 BIDS 产物完整性（文件成对、命名合规、TaskName 一致性），并可选生成 participants.txt。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| 准备运行环境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Docker、FreeSurfer、TemplateFlow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| 准备运行环境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Docker、FreeSurfer、TemplateFlow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运行环境：路径与资源配置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路径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作用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inputdir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输入 BIDS 根目录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outputdir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预处理结果输出目录（derivatives/fmriprep）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workingdir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中间缓存和临时文件（需大磁盘）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fslicense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FreeSurfer license 文件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TEMPLATEFLOW_DIR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模板缓存目录（首次需网络）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participants.txt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要处理哪些被试（每行一个）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bids_filters.json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限制 fMRIPrep 只读哪些数据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3840480" cy="822960"/>
          </a:xfrm>
          <a:prstGeom prst="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364992"/>
            <a:ext cx="35661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TemplateFlow 国内镜像：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TEMPLATEFLOW_AWS_S3_ENDPOINT=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https://mirrors.tuna.tsinghua.edu.cn/templateflow/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3291840"/>
            <a:ext cx="4114800" cy="822960"/>
          </a:xfrm>
          <a:prstGeom prst="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3291840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33649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workingdir 常常非常大，磁盘不够比内存不够更常见。outputdir 和 workingdir 在慢盘上速度会明显下降。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251960"/>
            <a:ext cx="8229600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425196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361688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资源预算示例（3 被试并行）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4663440"/>
            <a:ext cx="790956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CPU：4核/任务 × 3 = 12核级别 | 内存：16GB/任务 × 3 = 48GB+ | 外加 Docker/系统开销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| 运行 fMRIPrep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命令参数详解与并行策略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| 运行 fMRIPrep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命令参数详解与并行策略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fMRIPrep Docker 命令框架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146304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${fslicense}:/opt/freesurfer/license.txt:ro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${inputdir}:/data:ro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${outputdir}:/out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${workingdir}:/scratch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nipreps/fmriprep:25.1.4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/data /out participant --participant-label 094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--nprocs 4 --omp-nthreads 3 --mem-mb 16000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--output-spaces MNI152NLin2009cAsym:res-2 fsLR:den-91k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作用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新手建议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--participant-label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只跑指定被试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调试时非常好用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--output-spaces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输出空间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体素分析用 MNI；表面分析加 fsLR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--cifti-output 91k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输出 CIFTI grayordinates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确实会用 CIFTI 时再开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--use-syn-sdc warn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无场图时尝试 SDC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无场图项目常用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--skull-strip-template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脑提取模板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整批数据保持一致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--fd/dvars-spike-threshold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标记高运动/信号跳变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影响 confounds spike regressor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并行策略与资源管理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371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61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资源配置示例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num_cores = 4（总线程）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nthreads = 2（单进程线程）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memMB = 16000（内存上限）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parallel_jobs = 2（并行数）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5156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612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资源预算（2 并行）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CPU：4 × 2 = 8 核级别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内存：16GB × 2 = 32GB+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外加 Docker / 系统 / 文件缓存开销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914400"/>
          </a:xfrm>
          <a:prstGeom prst="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06040"/>
            <a:ext cx="54864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79192"/>
            <a:ext cx="79552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常见坑：单个被试只需 16GB，但一并行 3 个机器就爆了！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不要把 parallel_jobs、--nprocs、--omp-nthreads 分开看，要算总账。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384048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57600"/>
            <a:ext cx="54864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6732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会话管理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-S fmriprep_process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./run_fmriprep.sh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脱离：Ctrl+A → 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恢复：screen -r &lt;id&gt;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4114800" cy="1280160"/>
          </a:xfrm>
          <a:prstGeom prst="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657600"/>
            <a:ext cx="54864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730752"/>
            <a:ext cx="384048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版本管理：同一个课题中途升级 fMRIPrep 版本会影响可重复性。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建议整批数据保持同一版本（如 25.1.4），不要中途混用。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| fMRIPrep 内部原理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结构像与功能像处理流程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| fMRIPrep 内部原理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结构像与功能像处理流程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fMRIPrep 内部处理流程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结构像 (T1w) 处理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脑提取 (Skull Stripping)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组织分割 (GM / WM / CSF)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配准到标准空间 (MNI)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320040" cy="32004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皮层表面重建 (FreeSurfer)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411480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功能像 (BOLD) 处理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BOLD 参考图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8288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估计头动参数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148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Slice-timing correction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4688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畸变校正 (SDC)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7889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配准到 T1w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10896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重采样到标准空间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4290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confounds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关键思想：尽量减少重复插值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fMRIPrep 会把多个变换拼接起来，尽量一次性重采样，减少信息损失。这也是它被广泛采用的重要原因之一。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fMRIPrep 不是什么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25603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612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 GLM 软件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fMRIPrep 只做预处理，不做统计建模。后续 GLM 需要用 nilearn、FSL、SPM 等工具。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5603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54864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612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不是自动去噪神器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它生成 confounds，但不替你决定用哪些。去噪策略是分析决策。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74320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1051560"/>
            <a:ext cx="54864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612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不是被试排除工具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463040"/>
            <a:ext cx="2423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它提供质量指标（FD、DVARS），但排除标准需要研究者自行判断。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640080"/>
          </a:xfrm>
          <a:prstGeom prst="rect">
            <a:avLst>
              <a:gd name="adj" fmla="val 857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63240"/>
            <a:ext cx="54864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36392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fMRIPrep 做的是高质量标准化预处理，以及提供下游分析要用的 confounds。理解它的边界，才能更好地规划后续分析流程。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4048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50208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版本信息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最新稳定版：25.2.5（2026-03-10）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项目实际使用：nipreps/fmriprep:25.1.4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建议：一个课题整批数据保持同一版本，不要中途混用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| 结果检查与输出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报告、confounds 与常见误区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| 结果检查与输出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报告、confounds 与常见误区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跑完后如何检查结果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20116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61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报告（最先看）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2044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脑提取有没有明显失败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到 MNI 是否对齐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到 T1 是否对齐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畸变校正是否合理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头动和 carpet plot 是否异常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5156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612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关键输出文件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desc-preproc_bold.nii.gz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desc-brain_mask.nii.gz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desc-confounds_timeseries.tsv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desc-confounds_timeseries.json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表面/CIFTI 输出（如开启）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desc-confounds_timeseries.tsv 常见列：trans_x/y/z | rot_x/y/z | framewise_displacement | dvars | white_matter | csf | global_signal | a_comp_cor_* | t_comp_cor_*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>
              <a:gd name="adj" fmla="val 461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54864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67912"/>
            <a:ext cx="79552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重要误区：fMRIPrep 会生成很多 confounds，但不等于应该把所有列一股脑全部塞进 GLM！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官方文档明确提醒：confounds 列可能超过 100 列，不要全塞，应根据分析目标选择合适的去噪策略。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| 工具脚本与参考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项目脚本工具与官方资料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| 工具脚本与参考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项目脚本工具与官方资料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项目中的实用工具脚本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84048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6459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612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T1_dcm2bids_shengyu.m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脚本：DICOM 解压整理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自动调用 dcm2niix 转换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按序列名识别 T1w / 功能像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自动归档到 anat/ 和 func/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5156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6128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validate_bids_output.py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工具：校验 BIDS 产物完整性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检查文件成对（.nii.gz + .json）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校验文件名 BIDS 模式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 TaskName 与文件名一致性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可选生成 participants.txt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84048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443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批量重命名脚本 (bash)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为功能像文件名添加 task-xxx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同步处理 .nii.gz / .json / .bak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411480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8346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9443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字段补齐脚本 (bash)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2461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jq 批量修改 SliceTiming / PED / TR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字段重命名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自动备份原始文件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69080"/>
            <a:ext cx="54864" cy="8686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78808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dcm2bids_wjq.py（进阶）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480560"/>
            <a:ext cx="7909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模块：将特定目录结构的 DICOM 批量转换为 BIDS 格式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session 标签（ses-pre / ses-post）、自动 run 编号、dry-run 模式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官方资料与参考链接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资源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链接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fMRIPrep 首页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fmriprep.org/en/stable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fMRIPrep Usage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fmriprep.org/en/stable/usage.html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fMRIPrep Outputs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fmriprep.org/en/stable/outputs.html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fMRIPrep FAQ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fmriprep.org/en/stable/faq.html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BIDS MRI 规范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bids-specification.readthedocs.io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BIDS Events 规范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bids-specification.readthedocs.io/.../events.html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dcm2niix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github.com/rordenlab/dcm2niix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8229600" cy="548640"/>
          </a:xfrm>
          <a:prstGeom prst="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291840"/>
            <a:ext cx="54864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36499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建议收藏以上链接，遇到问题时优先查阅官方文档。fMRIPrep FAQ 覆盖了大部分常见报错和配置问题。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全流程总结：关键检查点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49808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645920" cy="347472"/>
          </a:xfrm>
          <a:prstGeom prst="rect">
            <a:avLst>
              <a:gd name="adj" fmla="val 10526"/>
            </a:avLst>
          </a:prstGeom>
          <a:solidFill>
            <a:srgbClr val="1E40A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扫描结束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133856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0058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保留原始 DICOM，记录扫描参数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44752"/>
            <a:ext cx="1645920" cy="347472"/>
          </a:xfrm>
          <a:prstGeom prst="rect">
            <a:avLst>
              <a:gd name="adj" fmla="val 10526"/>
            </a:avLst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447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整理数据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572768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44475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确认被试完整性，统一目录结构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83664"/>
            <a:ext cx="1645920" cy="347472"/>
          </a:xfrm>
          <a:prstGeom prst="rect">
            <a:avLst>
              <a:gd name="adj" fmla="val 10526"/>
            </a:avLst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836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dcm2niix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2011680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188366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不要漏掉 .json sidecar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322576"/>
            <a:ext cx="1645920" cy="347472"/>
          </a:xfrm>
          <a:prstGeom prst="rect">
            <a:avLst>
              <a:gd name="adj" fmla="val 10526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225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命名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8840" y="2450592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232257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task-xxx 必须有，bold.json 必须配对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61488"/>
            <a:ext cx="1645920" cy="347472"/>
          </a:xfrm>
          <a:prstGeom prst="rect">
            <a:avLst>
              <a:gd name="adj" fmla="val 10526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614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元数据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48840" y="2889504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276148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TR/SliceTiming/PED 逐被试核对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1645920" cy="347472"/>
          </a:xfrm>
          <a:prstGeom prst="rect">
            <a:avLst>
              <a:gd name="adj" fmla="val 10526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bids-validator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48840" y="3328416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2423160" y="320040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先修 error，再看 warning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639312"/>
            <a:ext cx="1645920" cy="347472"/>
          </a:xfrm>
          <a:prstGeom prst="rect">
            <a:avLst>
              <a:gd name="adj" fmla="val 10526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393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环境准备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48840" y="3767328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2423160" y="363931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磁盘空间、FreeSurfer license、TemplateFlow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78224"/>
            <a:ext cx="1645920" cy="347472"/>
          </a:xfrm>
          <a:prstGeom prst="rect">
            <a:avLst>
              <a:gd name="adj" fmla="val 10526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0782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 fMRIPrep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48840" y="4206240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2423160" y="407822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资源预算算总账，版本保持一致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517136"/>
            <a:ext cx="1645920" cy="347472"/>
          </a:xfrm>
          <a:prstGeom prst="rect">
            <a:avLst>
              <a:gd name="adj" fmla="val 10526"/>
            </a:avLst>
          </a:prstGeom>
          <a:solidFill>
            <a:srgbClr val="059669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5171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结果检查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48840" y="4645152"/>
            <a:ext cx="18288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2423160" y="451713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报告 + confounds 策略选择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457200"/>
            <a:ext cx="18288" cy="42291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fMRI 预处理全流程指南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→ dcm2niix → BIDS → fMRIPrep → 质量检查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有问题欢迎交流讨论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从扫描到fMRIPrep：fMRI预处理全流程指南</dc:title>
  <dc:subject>PptxGenJS Presentation</dc:subject>
  <dc:creator>fMRI Preprocessing Team</dc:creator>
  <cp:lastModifiedBy>fMRI Preprocessing Team</cp:lastModifiedBy>
  <cp:revision>1</cp:revision>
  <dcterms:created xsi:type="dcterms:W3CDTF">2026-04-17T03:13:54Z</dcterms:created>
  <dcterms:modified xsi:type="dcterms:W3CDTF">2026-04-17T03:13:54Z</dcterms:modified>
</cp:coreProperties>
</file>